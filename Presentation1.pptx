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7" r:id="rId2"/>
    <p:sldId id="271" r:id="rId3"/>
    <p:sldId id="270" r:id="rId4"/>
    <p:sldId id="258" r:id="rId5"/>
    <p:sldId id="259" r:id="rId6"/>
    <p:sldId id="260" r:id="rId7"/>
    <p:sldId id="261" r:id="rId8"/>
    <p:sldId id="263" r:id="rId9"/>
    <p:sldId id="264" r:id="rId10"/>
    <p:sldId id="262" r:id="rId11"/>
    <p:sldId id="272" r:id="rId12"/>
    <p:sldId id="265" r:id="rId13"/>
    <p:sldId id="267" r:id="rId14"/>
    <p:sldId id="268" r:id="rId15"/>
    <p:sldId id="266"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20323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96554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9189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45901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1019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3665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83489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801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14594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63655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5518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6085014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14C2F-D7AF-1853-88A6-FA95130DCE21}"/>
              </a:ext>
            </a:extLst>
          </p:cNvPr>
          <p:cNvSpPr>
            <a:spLocks noGrp="1"/>
          </p:cNvSpPr>
          <p:nvPr>
            <p:ph type="title"/>
          </p:nvPr>
        </p:nvSpPr>
        <p:spPr/>
        <p:txBody>
          <a:bodyPr/>
          <a:lstStyle/>
          <a:p>
            <a:r>
              <a:rPr lang="en-US" dirty="0"/>
              <a:t>Welcome</a:t>
            </a:r>
          </a:p>
        </p:txBody>
      </p:sp>
      <p:sp>
        <p:nvSpPr>
          <p:cNvPr id="3" name="Content Placeholder 2">
            <a:extLst>
              <a:ext uri="{FF2B5EF4-FFF2-40B4-BE49-F238E27FC236}">
                <a16:creationId xmlns:a16="http://schemas.microsoft.com/office/drawing/2014/main" id="{F67BCC79-F881-0902-97FB-E6C887DC3243}"/>
              </a:ext>
            </a:extLst>
          </p:cNvPr>
          <p:cNvSpPr>
            <a:spLocks noGrp="1"/>
          </p:cNvSpPr>
          <p:nvPr>
            <p:ph idx="1"/>
          </p:nvPr>
        </p:nvSpPr>
        <p:spPr/>
        <p:txBody>
          <a:bodyPr/>
          <a:lstStyle/>
          <a:p>
            <a:r>
              <a:rPr lang="en-US" dirty="0"/>
              <a:t>Hi, My name is Jediael Abebe, and welcome to Astegni.com, an Amharic word for tutor. Is that to hard for you to pronounce? </a:t>
            </a:r>
            <a:r>
              <a:rPr lang="am-ET" dirty="0"/>
              <a:t>አስጠኚ? </a:t>
            </a:r>
            <a:r>
              <a:rPr lang="en-US" dirty="0"/>
              <a:t>I bet it is. So let me teach you how to say it. The word has three syllables. The first syllabus is </a:t>
            </a:r>
            <a:r>
              <a:rPr lang="am-ET" dirty="0"/>
              <a:t>አስ </a:t>
            </a:r>
            <a:r>
              <a:rPr lang="en-US" dirty="0"/>
              <a:t>as in kiss my ass. </a:t>
            </a:r>
          </a:p>
        </p:txBody>
      </p:sp>
    </p:spTree>
    <p:extLst>
      <p:ext uri="{BB962C8B-B14F-4D97-AF65-F5344CB8AC3E}">
        <p14:creationId xmlns:p14="http://schemas.microsoft.com/office/powerpoint/2010/main" val="452974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A4E8-0776-F5FE-A1D4-50AF8F6B3B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09FDE-4A4B-9E5C-887F-B79E76C62357}"/>
              </a:ext>
            </a:extLst>
          </p:cNvPr>
          <p:cNvSpPr>
            <a:spLocks noGrp="1"/>
          </p:cNvSpPr>
          <p:nvPr>
            <p:ph idx="1"/>
          </p:nvPr>
        </p:nvSpPr>
        <p:spPr/>
        <p:txBody>
          <a:bodyPr/>
          <a:lstStyle/>
          <a:p>
            <a:r>
              <a:rPr lang="en-US" dirty="0"/>
              <a:t>The second part of the word is </a:t>
            </a:r>
            <a:r>
              <a:rPr lang="am-ET" dirty="0"/>
              <a:t>ጠ.</a:t>
            </a:r>
            <a:r>
              <a:rPr lang="en-US" dirty="0"/>
              <a:t> Now, You don’t have a </a:t>
            </a:r>
            <a:r>
              <a:rPr lang="am-ET" dirty="0"/>
              <a:t>ጠ</a:t>
            </a:r>
            <a:r>
              <a:rPr lang="en-US" dirty="0"/>
              <a:t> sound in your language. But don’t worry. We also don’t have many sounds that are in others language. So the </a:t>
            </a:r>
            <a:r>
              <a:rPr lang="am-ET" dirty="0"/>
              <a:t>ጠ </a:t>
            </a:r>
            <a:r>
              <a:rPr lang="en-US" dirty="0"/>
              <a:t>is like pronouncing </a:t>
            </a:r>
            <a:r>
              <a:rPr lang="en-US" dirty="0" err="1"/>
              <a:t>te</a:t>
            </a:r>
            <a:r>
              <a:rPr lang="en-US" dirty="0"/>
              <a:t> like telegram but with strengthening your</a:t>
            </a:r>
            <a:r>
              <a:rPr lang="am-ET" dirty="0"/>
              <a:t> </a:t>
            </a:r>
            <a:r>
              <a:rPr lang="en-US" dirty="0"/>
              <a:t>front part of your </a:t>
            </a:r>
            <a:r>
              <a:rPr lang="en-US" dirty="0" err="1"/>
              <a:t>tounge</a:t>
            </a:r>
            <a:r>
              <a:rPr lang="en-US" dirty="0"/>
              <a:t> and connecting it with your upper palate and giving it a voice. You’ll find the sound </a:t>
            </a:r>
            <a:r>
              <a:rPr lang="am-ET" dirty="0"/>
              <a:t>ጠ.</a:t>
            </a:r>
            <a:endParaRPr lang="en-US" dirty="0"/>
          </a:p>
        </p:txBody>
      </p:sp>
    </p:spTree>
    <p:extLst>
      <p:ext uri="{BB962C8B-B14F-4D97-AF65-F5344CB8AC3E}">
        <p14:creationId xmlns:p14="http://schemas.microsoft.com/office/powerpoint/2010/main" val="3035457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A130-2A68-717E-1889-649D42B7285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F63439-6094-D2D3-67E2-BBAF63D9D38E}"/>
              </a:ext>
            </a:extLst>
          </p:cNvPr>
          <p:cNvSpPr>
            <a:spLocks noGrp="1"/>
          </p:cNvSpPr>
          <p:nvPr>
            <p:ph idx="1"/>
          </p:nvPr>
        </p:nvSpPr>
        <p:spPr/>
        <p:txBody>
          <a:bodyPr/>
          <a:lstStyle/>
          <a:p>
            <a:r>
              <a:rPr lang="en-US" dirty="0"/>
              <a:t>The next letter is </a:t>
            </a:r>
            <a:r>
              <a:rPr lang="am-ET" dirty="0"/>
              <a:t>ኘ. </a:t>
            </a:r>
            <a:r>
              <a:rPr lang="en-US" dirty="0"/>
              <a:t>I think this one is hard. To get the </a:t>
            </a:r>
            <a:r>
              <a:rPr lang="am-ET" dirty="0"/>
              <a:t>ኘ </a:t>
            </a:r>
            <a:r>
              <a:rPr lang="en-US" dirty="0"/>
              <a:t>sound, connect your middle part of your </a:t>
            </a:r>
            <a:r>
              <a:rPr lang="en-US" dirty="0" err="1"/>
              <a:t>tounge</a:t>
            </a:r>
            <a:r>
              <a:rPr lang="en-US" dirty="0"/>
              <a:t> with your middle part of your palate, and try to voice it out. </a:t>
            </a:r>
            <a:r>
              <a:rPr lang="am-ET" dirty="0"/>
              <a:t>ኘ.</a:t>
            </a:r>
            <a:r>
              <a:rPr lang="en-US" dirty="0"/>
              <a:t> So together it will be </a:t>
            </a:r>
            <a:r>
              <a:rPr lang="am-ET" dirty="0"/>
              <a:t>አስጠኘ። </a:t>
            </a:r>
            <a:r>
              <a:rPr lang="en-US" dirty="0"/>
              <a:t>Now </a:t>
            </a:r>
            <a:r>
              <a:rPr lang="am-ET" dirty="0"/>
              <a:t>አስጠኘ </a:t>
            </a:r>
            <a:r>
              <a:rPr lang="en-US" dirty="0"/>
              <a:t>is not a word but when you give the last letter the I vowel, you’ll get </a:t>
            </a:r>
            <a:r>
              <a:rPr lang="am-ET" dirty="0"/>
              <a:t>ኚ </a:t>
            </a:r>
            <a:r>
              <a:rPr lang="en-US" dirty="0"/>
              <a:t>and the word </a:t>
            </a:r>
            <a:r>
              <a:rPr lang="am-ET" dirty="0"/>
              <a:t>አስጠኚ. </a:t>
            </a:r>
            <a:r>
              <a:rPr lang="en-US" dirty="0"/>
              <a:t>But I know you won’t get it on your first try, so I’ll leave you on that for our next meeting. For now lets just use the word tutor. </a:t>
            </a:r>
          </a:p>
        </p:txBody>
      </p:sp>
    </p:spTree>
    <p:extLst>
      <p:ext uri="{BB962C8B-B14F-4D97-AF65-F5344CB8AC3E}">
        <p14:creationId xmlns:p14="http://schemas.microsoft.com/office/powerpoint/2010/main" val="1894211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A915-6446-5737-8E03-2C0A1A9F41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297BFA-3DE7-D827-A776-4C6D7261D63C}"/>
              </a:ext>
            </a:extLst>
          </p:cNvPr>
          <p:cNvSpPr>
            <a:spLocks noGrp="1"/>
          </p:cNvSpPr>
          <p:nvPr>
            <p:ph idx="1"/>
          </p:nvPr>
        </p:nvSpPr>
        <p:spPr/>
        <p:txBody>
          <a:bodyPr/>
          <a:lstStyle/>
          <a:p>
            <a:r>
              <a:rPr lang="en-US" dirty="0"/>
              <a:t>Built on three internationally pending intellectual property innovations, our tutor.com is a comprehensive educational technology platform initially designed to connect tutors with students in Ethiopia with a clear roadmap to expand connecting not only tutors, but also schools and training institutes with their students and parents for African and the world market.</a:t>
            </a:r>
          </a:p>
        </p:txBody>
      </p:sp>
    </p:spTree>
    <p:extLst>
      <p:ext uri="{BB962C8B-B14F-4D97-AF65-F5344CB8AC3E}">
        <p14:creationId xmlns:p14="http://schemas.microsoft.com/office/powerpoint/2010/main" val="132332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EBD2-3975-79F6-6628-E938C6B63BE1}"/>
              </a:ext>
            </a:extLst>
          </p:cNvPr>
          <p:cNvSpPr>
            <a:spLocks noGrp="1"/>
          </p:cNvSpPr>
          <p:nvPr>
            <p:ph type="title"/>
          </p:nvPr>
        </p:nvSpPr>
        <p:spPr/>
        <p:txBody>
          <a:bodyPr/>
          <a:lstStyle/>
          <a:p>
            <a:r>
              <a:rPr lang="en-US" dirty="0"/>
              <a:t>What has happened to our beautiful world that it needs </a:t>
            </a:r>
            <a:r>
              <a:rPr lang="en-US" dirty="0" err="1"/>
              <a:t>Astegni</a:t>
            </a:r>
            <a:r>
              <a:rPr lang="en-US" dirty="0"/>
              <a:t>?</a:t>
            </a:r>
          </a:p>
        </p:txBody>
      </p:sp>
      <p:sp>
        <p:nvSpPr>
          <p:cNvPr id="3" name="Content Placeholder 2">
            <a:extLst>
              <a:ext uri="{FF2B5EF4-FFF2-40B4-BE49-F238E27FC236}">
                <a16:creationId xmlns:a16="http://schemas.microsoft.com/office/drawing/2014/main" id="{17C8D796-0438-053B-B65F-0CB52FE7B8BA}"/>
              </a:ext>
            </a:extLst>
          </p:cNvPr>
          <p:cNvSpPr>
            <a:spLocks noGrp="1"/>
          </p:cNvSpPr>
          <p:nvPr>
            <p:ph idx="1"/>
          </p:nvPr>
        </p:nvSpPr>
        <p:spPr/>
        <p:txBody>
          <a:bodyPr/>
          <a:lstStyle/>
          <a:p>
            <a:r>
              <a:rPr lang="en-US" dirty="0"/>
              <a:t>Well, People worldwide struggle to find quality tutors and personal trainers to excel in their education, especially parents. In Ethiopia, parents rely on billboards on electric poles, unverified agents, and social media channels with no reviews, ratings, or quality assurance on the tutors forcing them to accept blindly.</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8A86F194-10D7-CAB3-9C8C-3C8A58C6050F}"/>
                  </a:ext>
                </a:extLst>
              </p:cNvPr>
              <p:cNvGraphicFramePr>
                <a:graphicFrameLocks noChangeAspect="1"/>
              </p:cNvGraphicFramePr>
              <p:nvPr>
                <p:extLst>
                  <p:ext uri="{D42A27DB-BD31-4B8C-83A1-F6EECF244321}">
                    <p14:modId xmlns:p14="http://schemas.microsoft.com/office/powerpoint/2010/main" val="980606746"/>
                  </p:ext>
                </p:extLst>
              </p:nvPr>
            </p:nvGraphicFramePr>
            <p:xfrm>
              <a:off x="-1712792" y="1160393"/>
              <a:ext cx="3048000" cy="1714500"/>
            </p:xfrm>
            <a:graphic>
              <a:graphicData uri="http://schemas.microsoft.com/office/powerpoint/2016/slidezoom">
                <pslz:sldZm>
                  <pslz:sldZmObj sldId="259" cId="3227745792">
                    <pslz:zmPr id="{2F41B588-39AC-4127-AB01-DDC7587DDB56}"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5" name="Slide Zoom 4">
                <a:hlinkClick r:id="rId3" action="ppaction://hlinksldjump"/>
                <a:extLst>
                  <a:ext uri="{FF2B5EF4-FFF2-40B4-BE49-F238E27FC236}">
                    <a16:creationId xmlns:a16="http://schemas.microsoft.com/office/drawing/2014/main" id="{8A86F194-10D7-CAB3-9C8C-3C8A58C6050F}"/>
                  </a:ext>
                </a:extLst>
              </p:cNvPr>
              <p:cNvPicPr>
                <a:picLocks noGrp="1" noRot="1" noChangeAspect="1" noMove="1" noResize="1" noEditPoints="1" noAdjustHandles="1" noChangeArrowheads="1" noChangeShapeType="1"/>
              </p:cNvPicPr>
              <p:nvPr/>
            </p:nvPicPr>
            <p:blipFill>
              <a:blip r:embed="rId4"/>
              <a:stretch>
                <a:fillRect/>
              </a:stretch>
            </p:blipFill>
            <p:spPr>
              <a:xfrm>
                <a:off x="-1712792" y="1160393"/>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3227745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B125E-AC57-7F1C-5553-929263F1D8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6D13AC-EB83-6FB8-7E76-8AB0396BAB9A}"/>
              </a:ext>
            </a:extLst>
          </p:cNvPr>
          <p:cNvSpPr>
            <a:spLocks noGrp="1"/>
          </p:cNvSpPr>
          <p:nvPr>
            <p:ph idx="1"/>
          </p:nvPr>
        </p:nvSpPr>
        <p:spPr/>
        <p:txBody>
          <a:bodyPr/>
          <a:lstStyle/>
          <a:p>
            <a:r>
              <a:rPr lang="en-US" dirty="0"/>
              <a:t>For others seeking academic and non-academic tutors, YouTube is the other go-to option, but YouTube as we all know it, lacks true interaction with the instructor. While instructors post their videos there is no way for students to ask questions and get responses in real time or get a customized one-on-one sessions (online or in-person). Students can post questions in the comments section, but tutors rarely respond (most questions go unanswered), questions are buried in thousands of comments (impossible to find), or answers come days or weeks late (momentum and learning context lost). In addition the comment section is not designed for structured educational feedback (no ability to assess student understanding, provide personalized guidance, or track learning progress). </a:t>
            </a:r>
          </a:p>
        </p:txBody>
      </p:sp>
    </p:spTree>
    <p:extLst>
      <p:ext uri="{BB962C8B-B14F-4D97-AF65-F5344CB8AC3E}">
        <p14:creationId xmlns:p14="http://schemas.microsoft.com/office/powerpoint/2010/main" val="3350866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D4315-49F0-2521-9AD9-75FEBE75520D}"/>
              </a:ext>
            </a:extLst>
          </p:cNvPr>
          <p:cNvSpPr>
            <a:spLocks noGrp="1"/>
          </p:cNvSpPr>
          <p:nvPr>
            <p:ph type="title"/>
          </p:nvPr>
        </p:nvSpPr>
        <p:spPr/>
        <p:txBody>
          <a:bodyPr/>
          <a:lstStyle/>
          <a:p>
            <a:r>
              <a:rPr lang="en-US" dirty="0"/>
              <a:t>Our solution?</a:t>
            </a:r>
          </a:p>
        </p:txBody>
      </p:sp>
      <p:sp>
        <p:nvSpPr>
          <p:cNvPr id="3" name="Content Placeholder 2">
            <a:extLst>
              <a:ext uri="{FF2B5EF4-FFF2-40B4-BE49-F238E27FC236}">
                <a16:creationId xmlns:a16="http://schemas.microsoft.com/office/drawing/2014/main" id="{4371803B-4F68-90FD-4CE7-7C545CAA4D6B}"/>
              </a:ext>
            </a:extLst>
          </p:cNvPr>
          <p:cNvSpPr>
            <a:spLocks noGrp="1"/>
          </p:cNvSpPr>
          <p:nvPr>
            <p:ph idx="1"/>
          </p:nvPr>
        </p:nvSpPr>
        <p:spPr/>
        <p:txBody>
          <a:bodyPr/>
          <a:lstStyle/>
          <a:p>
            <a:r>
              <a:rPr lang="en-US" dirty="0"/>
              <a:t>A verified tutor marketplace with a 4-factor rating system (Subject understanding, Communication Skills, Discipline, Punctuality), combined with cutting-edge collaborative teaching tools including a proprietary Digital Whiteboard and Virtual Laboratory, our platform enables interactive and personalized learning through real-time collaboration, individualized feedback systems, and comprehensive progress tracking—bridging the gap between passive content consumption and active, personalized education.</a:t>
            </a:r>
          </a:p>
          <a:p>
            <a:endParaRPr lang="en-US" dirty="0"/>
          </a:p>
        </p:txBody>
      </p:sp>
    </p:spTree>
    <p:extLst>
      <p:ext uri="{BB962C8B-B14F-4D97-AF65-F5344CB8AC3E}">
        <p14:creationId xmlns:p14="http://schemas.microsoft.com/office/powerpoint/2010/main" val="2977883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030D2-0C3F-20DD-461E-D9AFA230D47E}"/>
              </a:ext>
            </a:extLst>
          </p:cNvPr>
          <p:cNvSpPr>
            <a:spLocks noGrp="1"/>
          </p:cNvSpPr>
          <p:nvPr>
            <p:ph type="title"/>
          </p:nvPr>
        </p:nvSpPr>
        <p:spPr/>
        <p:txBody>
          <a:bodyPr/>
          <a:lstStyle/>
          <a:p>
            <a:r>
              <a:rPr lang="en-US" dirty="0"/>
              <a:t>Market validation</a:t>
            </a:r>
          </a:p>
        </p:txBody>
      </p:sp>
      <p:sp>
        <p:nvSpPr>
          <p:cNvPr id="3" name="Content Placeholder 2">
            <a:extLst>
              <a:ext uri="{FF2B5EF4-FFF2-40B4-BE49-F238E27FC236}">
                <a16:creationId xmlns:a16="http://schemas.microsoft.com/office/drawing/2014/main" id="{2B45C115-453F-8613-DBAF-F4ABD93AB956}"/>
              </a:ext>
            </a:extLst>
          </p:cNvPr>
          <p:cNvSpPr>
            <a:spLocks noGrp="1"/>
          </p:cNvSpPr>
          <p:nvPr>
            <p:ph idx="1"/>
          </p:nvPr>
        </p:nvSpPr>
        <p:spPr/>
        <p:txBody>
          <a:bodyPr/>
          <a:lstStyle/>
          <a:p>
            <a:r>
              <a:rPr lang="en-US" dirty="0"/>
              <a:t>Currently more than 90% of Ethiopian students are failing the university entrance exam due to lack of quality education</a:t>
            </a:r>
          </a:p>
          <a:p>
            <a:r>
              <a:rPr lang="en-US" dirty="0"/>
              <a:t>This national crisis highlights the desperate need for quality tutoring and supplemental education</a:t>
            </a:r>
          </a:p>
          <a:p>
            <a:r>
              <a:rPr lang="en-US" dirty="0"/>
              <a:t>- Traditional schools are under-resourced, overcrowded, and struggling to prepare students adequately</a:t>
            </a:r>
          </a:p>
          <a:p>
            <a:r>
              <a:rPr lang="en-US" dirty="0"/>
              <a:t>- Private tutoring has become </a:t>
            </a:r>
            <a:r>
              <a:rPr lang="en-US" b="1" dirty="0"/>
              <a:t>essential</a:t>
            </a:r>
            <a:r>
              <a:rPr lang="en-US" dirty="0"/>
              <a:t>, not optional, for students to succeed</a:t>
            </a:r>
          </a:p>
          <a:p>
            <a:endParaRPr lang="en-US" dirty="0"/>
          </a:p>
        </p:txBody>
      </p:sp>
    </p:spTree>
    <p:extLst>
      <p:ext uri="{BB962C8B-B14F-4D97-AF65-F5344CB8AC3E}">
        <p14:creationId xmlns:p14="http://schemas.microsoft.com/office/powerpoint/2010/main" val="3246206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2EACA-EC25-962D-232C-748562058C87}"/>
              </a:ext>
            </a:extLst>
          </p:cNvPr>
          <p:cNvSpPr>
            <a:spLocks noGrp="1"/>
          </p:cNvSpPr>
          <p:nvPr>
            <p:ph type="title"/>
          </p:nvPr>
        </p:nvSpPr>
        <p:spPr/>
        <p:txBody>
          <a:bodyPr/>
          <a:lstStyle/>
          <a:p>
            <a:r>
              <a:rPr lang="en-US" dirty="0"/>
              <a:t>Real user research</a:t>
            </a:r>
          </a:p>
        </p:txBody>
      </p:sp>
      <p:sp>
        <p:nvSpPr>
          <p:cNvPr id="3" name="Content Placeholder 2">
            <a:extLst>
              <a:ext uri="{FF2B5EF4-FFF2-40B4-BE49-F238E27FC236}">
                <a16:creationId xmlns:a16="http://schemas.microsoft.com/office/drawing/2014/main" id="{6EBA7D28-1032-6B31-D427-5E74432D6767}"/>
              </a:ext>
            </a:extLst>
          </p:cNvPr>
          <p:cNvSpPr>
            <a:spLocks noGrp="1"/>
          </p:cNvSpPr>
          <p:nvPr>
            <p:ph idx="1"/>
          </p:nvPr>
        </p:nvSpPr>
        <p:spPr/>
        <p:txBody>
          <a:bodyPr/>
          <a:lstStyle/>
          <a:p>
            <a:r>
              <a:rPr lang="en-US" dirty="0"/>
              <a:t>With my market research every one wanted the product. Here is one story I found on my research. </a:t>
            </a:r>
            <a:r>
              <a:rPr lang="en-US" b="1" dirty="0"/>
              <a:t> </a:t>
            </a:r>
          </a:p>
          <a:p>
            <a:r>
              <a:rPr lang="en-US" b="1" dirty="0"/>
              <a:t>This parent from Addis Ababa said:</a:t>
            </a:r>
            <a:endParaRPr lang="en-US" dirty="0"/>
          </a:p>
          <a:p>
            <a:r>
              <a:rPr lang="en-US" dirty="0"/>
              <a:t>"I wanted to hire a tutor for my children, so I went to a university to ask for a teacher. They gave me this tutor. When the tutor came, my children told me that his communication skills in English were so low that they knew more than him. We had to let him go and start searching all over again.“</a:t>
            </a:r>
          </a:p>
          <a:p>
            <a:pPr marL="0" indent="0">
              <a:buNone/>
            </a:pPr>
            <a:r>
              <a:rPr lang="en-US" dirty="0"/>
              <a:t>                Since English is not our first language and due to the low quality of the education, it’s just natural here in Ethiopia to find a teacher who teaches in universities with low English skills.</a:t>
            </a:r>
            <a:br>
              <a:rPr lang="en-US" dirty="0"/>
            </a:br>
            <a:r>
              <a:rPr lang="en-US" dirty="0"/>
              <a:t>                But with our rating and review based search, parents can find the best tutor there is in just few seconds.</a:t>
            </a:r>
          </a:p>
        </p:txBody>
      </p:sp>
    </p:spTree>
    <p:extLst>
      <p:ext uri="{BB962C8B-B14F-4D97-AF65-F5344CB8AC3E}">
        <p14:creationId xmlns:p14="http://schemas.microsoft.com/office/powerpoint/2010/main" val="2670517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927CE-3F95-7F36-6FAD-348F1D10A262}"/>
              </a:ext>
            </a:extLst>
          </p:cNvPr>
          <p:cNvSpPr>
            <a:spLocks noGrp="1"/>
          </p:cNvSpPr>
          <p:nvPr>
            <p:ph type="title"/>
          </p:nvPr>
        </p:nvSpPr>
        <p:spPr/>
        <p:txBody>
          <a:bodyPr/>
          <a:lstStyle/>
          <a:p>
            <a:r>
              <a:rPr lang="en-US" dirty="0"/>
              <a:t>Current status</a:t>
            </a:r>
          </a:p>
        </p:txBody>
      </p:sp>
      <p:sp>
        <p:nvSpPr>
          <p:cNvPr id="3" name="Content Placeholder 2">
            <a:extLst>
              <a:ext uri="{FF2B5EF4-FFF2-40B4-BE49-F238E27FC236}">
                <a16:creationId xmlns:a16="http://schemas.microsoft.com/office/drawing/2014/main" id="{5657367E-A568-BD6F-91DC-573FE58A835F}"/>
              </a:ext>
            </a:extLst>
          </p:cNvPr>
          <p:cNvSpPr>
            <a:spLocks noGrp="1"/>
          </p:cNvSpPr>
          <p:nvPr>
            <p:ph idx="1"/>
          </p:nvPr>
        </p:nvSpPr>
        <p:spPr/>
        <p:txBody>
          <a:bodyPr/>
          <a:lstStyle/>
          <a:p>
            <a:r>
              <a:rPr lang="en-US"/>
              <a:t>I </a:t>
            </a:r>
            <a:r>
              <a:rPr lang="en-US" dirty="0"/>
              <a:t>have finished building the minimum value product of the website. </a:t>
            </a:r>
            <a:br>
              <a:rPr lang="en-US" dirty="0"/>
            </a:br>
            <a:endParaRPr lang="en-US" dirty="0"/>
          </a:p>
        </p:txBody>
      </p:sp>
    </p:spTree>
    <p:extLst>
      <p:ext uri="{BB962C8B-B14F-4D97-AF65-F5344CB8AC3E}">
        <p14:creationId xmlns:p14="http://schemas.microsoft.com/office/powerpoint/2010/main" val="40276278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C6D5-D0D6-6C1C-8E61-C22AA2204F52}"/>
              </a:ext>
            </a:extLst>
          </p:cNvPr>
          <p:cNvSpPr>
            <a:spLocks noGrp="1"/>
          </p:cNvSpPr>
          <p:nvPr>
            <p:ph type="title"/>
          </p:nvPr>
        </p:nvSpPr>
        <p:spPr/>
        <p:txBody>
          <a:bodyPr/>
          <a:lstStyle/>
          <a:p>
            <a:r>
              <a:rPr lang="en-US" dirty="0"/>
              <a:t>A little background of myself</a:t>
            </a:r>
          </a:p>
        </p:txBody>
      </p:sp>
      <p:sp>
        <p:nvSpPr>
          <p:cNvPr id="3" name="Content Placeholder 2">
            <a:extLst>
              <a:ext uri="{FF2B5EF4-FFF2-40B4-BE49-F238E27FC236}">
                <a16:creationId xmlns:a16="http://schemas.microsoft.com/office/drawing/2014/main" id="{4EDBE89D-E9C7-7153-C4C6-945FAD2BE9D9}"/>
              </a:ext>
            </a:extLst>
          </p:cNvPr>
          <p:cNvSpPr>
            <a:spLocks noGrp="1"/>
          </p:cNvSpPr>
          <p:nvPr>
            <p:ph idx="1"/>
          </p:nvPr>
        </p:nvSpPr>
        <p:spPr/>
        <p:txBody>
          <a:bodyPr/>
          <a:lstStyle/>
          <a:p>
            <a:r>
              <a:rPr lang="en-US" dirty="0"/>
              <a:t>I am a 30-year-old young man born and raised in Addis Ababa, Ethiopia, and am currently dependent on my 60-year-old mother.</a:t>
            </a:r>
          </a:p>
          <a:p>
            <a:r>
              <a:rPr lang="en-US" dirty="0"/>
              <a:t>Due to high unemployment, a high cost of living, a dysfunctional system in our government, and corruption, unfortunately, my story is the story of many.</a:t>
            </a:r>
          </a:p>
          <a:p>
            <a:r>
              <a:rPr lang="en-US" dirty="0"/>
              <a:t>But this is one of the issues that astegni.com is trying to solve. To provide an opportunity for the majority of the unemployed youth who are unable to work while they have the potential, and for the employed youth who are not paid right for the work they do.</a:t>
            </a:r>
          </a:p>
        </p:txBody>
      </p:sp>
    </p:spTree>
    <p:extLst>
      <p:ext uri="{BB962C8B-B14F-4D97-AF65-F5344CB8AC3E}">
        <p14:creationId xmlns:p14="http://schemas.microsoft.com/office/powerpoint/2010/main" val="1465224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4C582-4CB8-41B5-E702-10988FBB1D1D}"/>
              </a:ext>
            </a:extLst>
          </p:cNvPr>
          <p:cNvSpPr>
            <a:spLocks noGrp="1"/>
          </p:cNvSpPr>
          <p:nvPr>
            <p:ph type="title"/>
          </p:nvPr>
        </p:nvSpPr>
        <p:spPr/>
        <p:txBody>
          <a:bodyPr/>
          <a:lstStyle/>
          <a:p>
            <a:r>
              <a:rPr lang="en-US" dirty="0"/>
              <a:t>That’s why I need your help.</a:t>
            </a:r>
          </a:p>
        </p:txBody>
      </p:sp>
      <p:sp>
        <p:nvSpPr>
          <p:cNvPr id="3" name="Content Placeholder 2">
            <a:extLst>
              <a:ext uri="{FF2B5EF4-FFF2-40B4-BE49-F238E27FC236}">
                <a16:creationId xmlns:a16="http://schemas.microsoft.com/office/drawing/2014/main" id="{77F2C259-AD5D-1BAF-A8E2-1FCC0B028084}"/>
              </a:ext>
            </a:extLst>
          </p:cNvPr>
          <p:cNvSpPr>
            <a:spLocks noGrp="1"/>
          </p:cNvSpPr>
          <p:nvPr>
            <p:ph idx="1"/>
          </p:nvPr>
        </p:nvSpPr>
        <p:spPr/>
        <p:txBody>
          <a:bodyPr/>
          <a:lstStyle/>
          <a:p>
            <a:r>
              <a:rPr lang="en-US" dirty="0"/>
              <a:t>To take it out to the market, I need your help. Here are some of my expenses. </a:t>
            </a:r>
            <a:br>
              <a:rPr lang="en-US" dirty="0"/>
            </a:br>
            <a:r>
              <a:rPr lang="en-US" dirty="0"/>
              <a:t>1. In our country to get a business license, I need to rent an office. Office rent has three months of initial payment plus a 1 month fee for collateral. </a:t>
            </a:r>
            <a:br>
              <a:rPr lang="en-US" dirty="0"/>
            </a:br>
            <a:r>
              <a:rPr lang="en-US" dirty="0"/>
              <a:t>2. A fee to protect my three international intellectual property  innovations</a:t>
            </a:r>
          </a:p>
          <a:p>
            <a:r>
              <a:rPr lang="en-US" dirty="0"/>
              <a:t>3. Marketing expenses. T-shirts, flyers, banners, cameras for digital advertisement, expenses for video contents, payment for digital influencers, and salary for at least two sales employees.</a:t>
            </a:r>
            <a:br>
              <a:rPr lang="en-US" dirty="0"/>
            </a:br>
            <a:r>
              <a:rPr lang="en-US" dirty="0"/>
              <a:t>4. Office appliances. </a:t>
            </a:r>
            <a:br>
              <a:rPr lang="en-US" dirty="0"/>
            </a:br>
            <a:r>
              <a:rPr lang="en-US" dirty="0"/>
              <a:t>5. Miscellaneous expenses like trademark fee, business </a:t>
            </a:r>
            <a:r>
              <a:rPr lang="en-US" dirty="0" err="1"/>
              <a:t>licence</a:t>
            </a:r>
            <a:r>
              <a:rPr lang="en-US" dirty="0"/>
              <a:t> fee, transportation, phone and internet expenses, tools, and subscription fees,</a:t>
            </a:r>
            <a:br>
              <a:rPr lang="en-US" dirty="0"/>
            </a:br>
            <a:r>
              <a:rPr lang="en-US" dirty="0"/>
              <a:t>6. </a:t>
            </a:r>
          </a:p>
        </p:txBody>
      </p:sp>
    </p:spTree>
    <p:extLst>
      <p:ext uri="{BB962C8B-B14F-4D97-AF65-F5344CB8AC3E}">
        <p14:creationId xmlns:p14="http://schemas.microsoft.com/office/powerpoint/2010/main" val="4038184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8E6B1-CEF3-BCC1-42D9-4276B56D8901}"/>
              </a:ext>
            </a:extLst>
          </p:cNvPr>
          <p:cNvSpPr>
            <a:spLocks noGrp="1"/>
          </p:cNvSpPr>
          <p:nvPr>
            <p:ph type="title"/>
          </p:nvPr>
        </p:nvSpPr>
        <p:spPr/>
        <p:txBody>
          <a:bodyPr/>
          <a:lstStyle/>
          <a:p>
            <a:r>
              <a:rPr lang="en-US" dirty="0"/>
              <a:t>How much?</a:t>
            </a:r>
          </a:p>
        </p:txBody>
      </p:sp>
      <p:sp>
        <p:nvSpPr>
          <p:cNvPr id="3" name="Content Placeholder 2">
            <a:extLst>
              <a:ext uri="{FF2B5EF4-FFF2-40B4-BE49-F238E27FC236}">
                <a16:creationId xmlns:a16="http://schemas.microsoft.com/office/drawing/2014/main" id="{DD63A16E-8E82-7098-70B4-1225E5B19DE0}"/>
              </a:ext>
            </a:extLst>
          </p:cNvPr>
          <p:cNvSpPr>
            <a:spLocks noGrp="1"/>
          </p:cNvSpPr>
          <p:nvPr>
            <p:ph idx="1"/>
          </p:nvPr>
        </p:nvSpPr>
        <p:spPr/>
        <p:txBody>
          <a:bodyPr/>
          <a:lstStyle/>
          <a:p>
            <a:r>
              <a:rPr lang="en-US" dirty="0"/>
              <a:t>A minimum of five thousand US dollars or its equivalent.</a:t>
            </a:r>
            <a:br>
              <a:rPr lang="en-US" dirty="0"/>
            </a:br>
            <a:endParaRPr lang="en-US" dirty="0"/>
          </a:p>
        </p:txBody>
      </p:sp>
    </p:spTree>
    <p:extLst>
      <p:ext uri="{BB962C8B-B14F-4D97-AF65-F5344CB8AC3E}">
        <p14:creationId xmlns:p14="http://schemas.microsoft.com/office/powerpoint/2010/main" val="1362018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E3C53-DE1D-7D10-BF3F-D0A7DD4FA8D7}"/>
              </a:ext>
            </a:extLst>
          </p:cNvPr>
          <p:cNvSpPr>
            <a:spLocks noGrp="1"/>
          </p:cNvSpPr>
          <p:nvPr>
            <p:ph type="title"/>
          </p:nvPr>
        </p:nvSpPr>
        <p:spPr/>
        <p:txBody>
          <a:bodyPr/>
          <a:lstStyle/>
          <a:p>
            <a:r>
              <a:rPr lang="en-US" dirty="0"/>
              <a:t>Where to contribute?</a:t>
            </a:r>
          </a:p>
        </p:txBody>
      </p:sp>
      <p:sp>
        <p:nvSpPr>
          <p:cNvPr id="3" name="Content Placeholder 2">
            <a:extLst>
              <a:ext uri="{FF2B5EF4-FFF2-40B4-BE49-F238E27FC236}">
                <a16:creationId xmlns:a16="http://schemas.microsoft.com/office/drawing/2014/main" id="{D1223FDF-08CE-0DE9-4090-47A270FDC43E}"/>
              </a:ext>
            </a:extLst>
          </p:cNvPr>
          <p:cNvSpPr>
            <a:spLocks noGrp="1"/>
          </p:cNvSpPr>
          <p:nvPr>
            <p:ph idx="1"/>
          </p:nvPr>
        </p:nvSpPr>
        <p:spPr/>
        <p:txBody>
          <a:bodyPr/>
          <a:lstStyle/>
          <a:p>
            <a:r>
              <a:rPr lang="en-US" dirty="0"/>
              <a:t>I have created a </a:t>
            </a:r>
            <a:r>
              <a:rPr lang="en-US" dirty="0" err="1"/>
              <a:t>gofundme</a:t>
            </a:r>
            <a:r>
              <a:rPr lang="en-US" dirty="0"/>
              <a:t> account. </a:t>
            </a:r>
          </a:p>
        </p:txBody>
      </p:sp>
    </p:spTree>
    <p:extLst>
      <p:ext uri="{BB962C8B-B14F-4D97-AF65-F5344CB8AC3E}">
        <p14:creationId xmlns:p14="http://schemas.microsoft.com/office/powerpoint/2010/main" val="3896828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A3-83EA-3BAF-8F2B-9877339B7615}"/>
              </a:ext>
            </a:extLst>
          </p:cNvPr>
          <p:cNvSpPr>
            <a:spLocks noGrp="1"/>
          </p:cNvSpPr>
          <p:nvPr>
            <p:ph type="title"/>
          </p:nvPr>
        </p:nvSpPr>
        <p:spPr/>
        <p:txBody>
          <a:bodyPr/>
          <a:lstStyle/>
          <a:p>
            <a:r>
              <a:rPr lang="en-US" dirty="0"/>
              <a:t>In conclusion</a:t>
            </a:r>
          </a:p>
        </p:txBody>
      </p:sp>
      <p:sp>
        <p:nvSpPr>
          <p:cNvPr id="3" name="Content Placeholder 2">
            <a:extLst>
              <a:ext uri="{FF2B5EF4-FFF2-40B4-BE49-F238E27FC236}">
                <a16:creationId xmlns:a16="http://schemas.microsoft.com/office/drawing/2014/main" id="{FFF73798-BB92-0218-F4D5-BDC0E671078D}"/>
              </a:ext>
            </a:extLst>
          </p:cNvPr>
          <p:cNvSpPr>
            <a:spLocks noGrp="1"/>
          </p:cNvSpPr>
          <p:nvPr>
            <p:ph idx="1"/>
          </p:nvPr>
        </p:nvSpPr>
        <p:spPr/>
        <p:txBody>
          <a:bodyPr/>
          <a:lstStyle/>
          <a:p>
            <a:r>
              <a:rPr lang="en-US" dirty="0"/>
              <a:t>Christmas as we all know is our time to give. And for me and for many who would benefit from this platform this Christmas will be the Christmas we won’t forget throughout our life.</a:t>
            </a:r>
          </a:p>
          <a:p>
            <a:r>
              <a:rPr lang="en-US" dirty="0"/>
              <a:t>For you, It is a gift you’ll always remember and be be proud of and a diary that you add to your life that you have helped a startup company in Africa in its first steps to make a really good impact in its society.</a:t>
            </a:r>
            <a:br>
              <a:rPr lang="en-US" dirty="0"/>
            </a:br>
            <a:endParaRPr lang="en-US" dirty="0"/>
          </a:p>
        </p:txBody>
      </p:sp>
    </p:spTree>
    <p:extLst>
      <p:ext uri="{BB962C8B-B14F-4D97-AF65-F5344CB8AC3E}">
        <p14:creationId xmlns:p14="http://schemas.microsoft.com/office/powerpoint/2010/main" val="1711950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E0A24-A9E9-01CF-AFFD-39DC86B3547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4180572-4227-2C2A-309F-77388E89B389}"/>
              </a:ext>
            </a:extLst>
          </p:cNvPr>
          <p:cNvSpPr>
            <a:spLocks noGrp="1"/>
          </p:cNvSpPr>
          <p:nvPr>
            <p:ph idx="1"/>
          </p:nvPr>
        </p:nvSpPr>
        <p:spPr/>
        <p:txBody>
          <a:bodyPr/>
          <a:lstStyle/>
          <a:p>
            <a:r>
              <a:rPr lang="en-US" dirty="0"/>
              <a:t>Thank you, and Merry Christmas.</a:t>
            </a:r>
          </a:p>
        </p:txBody>
      </p:sp>
    </p:spTree>
    <p:extLst>
      <p:ext uri="{BB962C8B-B14F-4D97-AF65-F5344CB8AC3E}">
        <p14:creationId xmlns:p14="http://schemas.microsoft.com/office/powerpoint/2010/main" val="189634209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838</TotalTime>
  <Words>1192</Words>
  <Application>Microsoft Office PowerPoint</Application>
  <PresentationFormat>Widescreen</PresentationFormat>
  <Paragraphs>37</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Bierstadt</vt:lpstr>
      <vt:lpstr>GestaltVTI</vt:lpstr>
      <vt:lpstr>Welcome</vt:lpstr>
      <vt:lpstr>PowerPoint Presentation</vt:lpstr>
      <vt:lpstr>PowerPoint Presentation</vt:lpstr>
      <vt:lpstr>PowerPoint Presentation</vt:lpstr>
      <vt:lpstr>What has happened to our beautiful world that it needs Astegni?</vt:lpstr>
      <vt:lpstr>PowerPoint Presentation</vt:lpstr>
      <vt:lpstr>Our solution?</vt:lpstr>
      <vt:lpstr>Market validation</vt:lpstr>
      <vt:lpstr>Real user research</vt:lpstr>
      <vt:lpstr>Current status</vt:lpstr>
      <vt:lpstr>A little background of myself</vt:lpstr>
      <vt:lpstr>That’s why I need your help.</vt:lpstr>
      <vt:lpstr>How much?</vt:lpstr>
      <vt:lpstr>Where to contribute?</vt:lpstr>
      <vt:lpstr>In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Zenna Debasu</dc:creator>
  <cp:lastModifiedBy>Zenna Debasu</cp:lastModifiedBy>
  <cp:revision>12</cp:revision>
  <dcterms:created xsi:type="dcterms:W3CDTF">2025-11-23T20:03:19Z</dcterms:created>
  <dcterms:modified xsi:type="dcterms:W3CDTF">2025-11-25T06:16:42Z</dcterms:modified>
</cp:coreProperties>
</file>